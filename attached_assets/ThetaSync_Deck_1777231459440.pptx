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6B4F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4FA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78D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8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EB89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Corporate Wellness</c:v>
                  </c:pt>
                  <c:pt idx="1">
                    <c:v>Meditation Apps</c:v>
                  </c:pt>
                  <c:pt idx="2">
                    <c:v>Mental Health Tech</c:v>
                  </c:pt>
                  <c:pt idx="3">
                    <c:v>Coaching Market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6.4</c:v>
                </c:pt>
                <c:pt idx="2">
                  <c:v>5.2</c:v>
                </c:pt>
                <c:pt idx="3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9A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A2D4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09A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2A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572000" cy="4572000"/>
          </a:xfrm>
          <a:prstGeom prst="ellipse">
            <a:avLst/>
          </a:prstGeom>
          <a:solidFill>
            <a:srgbClr val="3D2B66">
              <a:alpha val="45000"/>
            </a:srgbClr>
          </a:solidFill>
          <a:ln w="12700">
            <a:solidFill>
              <a:srgbClr val="3D2B66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3D2B66">
              <a:alpha val="30000"/>
            </a:srgbClr>
          </a:solidFill>
          <a:ln w="12700">
            <a:solidFill>
              <a:srgbClr val="3D2B6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63040"/>
            <a:ext cx="457200" cy="36576"/>
          </a:xfrm>
          <a:prstGeom prst="rect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005840"/>
            <a:ext cx="320040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058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PRODUCT KNOWLEDGE + SALES DECK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ThetaSync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94360" y="2651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space between </a:t>
            </a:r>
            <a:pPr algn="l" indent="0" marL="0">
              <a:buNone/>
            </a:pPr>
            <a:r>
              <a:rPr lang="en-US" sz="2000" i="1" dirty="0">
                <a:solidFill>
                  <a:srgbClr val="9B7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knowing</a:t>
            </a:r>
            <a:pPr algn="l" indent="0" marL="0">
              <a:buNone/>
            </a:pPr>
            <a:r>
              <a:rPr lang="en-US" sz="2000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and </a:t>
            </a:r>
            <a:pPr algn="l" indent="0" marL="0">
              <a:buNone/>
            </a:pPr>
            <a:r>
              <a:rPr lang="en-US" sz="20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becoming.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6583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identity transformation through personalized audio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931920"/>
            <a:ext cx="19202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4343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audience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0" y="3931920"/>
            <a:ext cx="19202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iOS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43200" y="4343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now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92040" y="3931920"/>
            <a:ext cx="19202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$67B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92040" y="4343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40880" y="3931920"/>
            <a:ext cx="192024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40880" y="39593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4343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channels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Altaye  ·  Founder, Life Mastri LLC  ·  thetasync.app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36576" cy="514350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502920"/>
            <a:ext cx="2103120" cy="2103120"/>
          </a:xfrm>
          <a:prstGeom prst="ellipse">
            <a:avLst/>
          </a:prstGeom>
          <a:solidFill>
            <a:srgbClr val="3D2B66"/>
          </a:solidFill>
          <a:ln w="31750">
            <a:solidFill>
              <a:srgbClr val="6B4F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0292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9B78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74320" y="2788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Abel Altaye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Life Mastri LLC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3657600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09AB8"/>
                </a:solidFill>
              </a:rPr>
              <a:t>70K+ Social Followers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3986784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3986784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09AB8"/>
                </a:solidFill>
              </a:rPr>
              <a:t>TikTok &amp; Instagram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4315968"/>
            <a:ext cx="310896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3159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A09AB8"/>
                </a:solidFill>
              </a:rPr>
              <a:t>Self-Dev Community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0" y="384048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3840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MEET THE FOUNDER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9080" y="685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from personal experience,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boardroom.</a:t>
            </a:r>
            <a:endParaRPr lang="en-US" sz="2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627632"/>
            <a:ext cx="201168" cy="2011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70832" y="160934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practitioner who lived the plateau problem firsthand</a:t>
            </a:r>
            <a:endParaRPr lang="en-US" sz="125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2121408"/>
            <a:ext cx="201168" cy="20116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70832" y="2103120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ThetaSync to solve what no existing app could — identity-level change</a:t>
            </a:r>
            <a:endParaRPr lang="en-US" sz="12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615184"/>
            <a:ext cx="201168" cy="20116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70832" y="259689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of Veil of Fire — a book on doing the deep psychological work</a:t>
            </a:r>
            <a:endParaRPr lang="en-US" sz="12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10896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70832" y="309067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of Mastri — a companion app for goals, dreams, and habits</a:t>
            </a:r>
            <a:endParaRPr lang="en-US" sz="12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602736"/>
            <a:ext cx="201168" cy="20116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70832" y="3584448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 social followers across TikTok and Instagram in the exact target audience</a:t>
            </a:r>
            <a:endParaRPr lang="en-US" sz="1250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9080" y="4096512"/>
            <a:ext cx="201168" cy="20116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4370832" y="4078224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founder — product, brand, community, and engineering combined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4069080" y="4681728"/>
            <a:ext cx="4709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didn't build ThetaSync to disrupt an industry. I built it because I </a:t>
            </a:r>
            <a:pPr indent="0" marL="0">
              <a:buNone/>
            </a:pPr>
            <a:r>
              <a:rPr lang="en-US" sz="115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needed it to exist.</a:t>
            </a:r>
            <a:pPr indent="0" marL="0">
              <a:buNone/>
            </a:pPr>
            <a:r>
              <a:rPr lang="en-US" sz="1150" i="1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182880"/>
            <a:ext cx="4572000" cy="4572000"/>
          </a:xfrm>
          <a:prstGeom prst="ellipse">
            <a:avLst/>
          </a:prstGeom>
          <a:solidFill>
            <a:srgbClr val="3D2B66">
              <a:alpha val="35000"/>
            </a:srgbClr>
          </a:solidFill>
          <a:ln w="12700">
            <a:solidFill>
              <a:srgbClr val="3D2B66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347472"/>
            <a:ext cx="256032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91840" y="34747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HOW THETASYNC BEGINS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starts with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question.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1097280" y="2084832"/>
            <a:ext cx="6949440" cy="1325880"/>
          </a:xfrm>
          <a:prstGeom prst="rect">
            <a:avLst/>
          </a:prstGeom>
          <a:solidFill>
            <a:srgbClr val="1B2A4A"/>
          </a:solidFill>
          <a:ln w="19050">
            <a:solidFill>
              <a:srgbClr val="6B4F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2084832"/>
            <a:ext cx="64008" cy="1325880"/>
          </a:xfrm>
          <a:prstGeom prst="rect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148840"/>
            <a:ext cx="6583680" cy="12070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you could change one thing about who you are —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what you do, but who you believe yourself to be —</a:t>
            </a:r>
            <a:endParaRPr lang="en-US" sz="1700" dirty="0"/>
          </a:p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would it be?"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97280" y="3584448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question unlocks everything — your limiting beliefs, your desired identity,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exactly what your AI-generated audio needs to address.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4352544"/>
            <a:ext cx="2578608" cy="658368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437083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Map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4590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the gap between who you are and who you want to be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4352544"/>
            <a:ext cx="2578608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474720" y="437083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Script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4590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writes a subliminal transformation script — your words, your mind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72200" y="4352544"/>
            <a:ext cx="2578608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4370832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Audio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4590288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Studio-quality session with binaural beats, voice, and soundscape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347472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4747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WHAT IS THETASYNC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meditation app.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identity transformation engine.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 is the first AI platform that generates a fully personalized audio experience — built around your exact limiting beliefs — layered with binaural beats and voice synthesis to reach the subconscious mind.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07792"/>
            <a:ext cx="4572000" cy="5120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 / Headspace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14600" y="2926080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content for everyone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511296"/>
            <a:ext cx="4572000" cy="512064"/>
          </a:xfrm>
          <a:prstGeom prst="rect">
            <a:avLst/>
          </a:prstGeom>
          <a:solidFill>
            <a:srgbClr val="3D2B66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52958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14600" y="3529584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for your exact mind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347472"/>
            <a:ext cx="1737360" cy="2212848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62472" y="530352"/>
            <a:ext cx="475488" cy="47548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532120" y="109728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Binaural Beats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532120" y="1408176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Theta-frequency audio (4–8 Hz) primes the subconscious for change — the same state induced in premium hypnotherapy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315200" y="347472"/>
            <a:ext cx="1737360" cy="221284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6992" y="530352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406640" y="1097280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Identity Mapping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406640" y="1408176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analyzes your beliefs, gaps, and desired self to craft a script that speaks directly to your subconscious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40680" y="2706624"/>
            <a:ext cx="1737360" cy="221284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2472" y="2889504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532120" y="34564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5532120" y="3767328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converts the script into natural-sounding audio, mixed with ambient soundscapes and music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7315200" y="2706624"/>
            <a:ext cx="1737360" cy="2212848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992" y="2889504"/>
            <a:ext cx="475488" cy="47548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406640" y="3456432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 Tracking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406640" y="3767328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your transformation over time — old belief vs new belief, streaks, identity evolution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02920" y="4526280"/>
            <a:ext cx="4572000" cy="438912"/>
          </a:xfrm>
          <a:prstGeom prst="rect">
            <a:avLst/>
          </a:prstGeom>
          <a:solidFill>
            <a:srgbClr val="C49A3A">
              <a:alpha val="12000"/>
            </a:srgbClr>
          </a:solidFill>
          <a:ln w="12700">
            <a:solidFill>
              <a:srgbClr val="C49A3A">
                <a:alpha val="4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4360" y="454456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sign-up to your first personalized audio session: under 8 minutes.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0" y="274320"/>
            <a:ext cx="219456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0" y="274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HOW IT WORKS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71600" y="566928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steps. Completely automatic.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56032" y="1389888"/>
            <a:ext cx="1572768" cy="33832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81328"/>
            <a:ext cx="530352" cy="53035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481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76272"/>
            <a:ext cx="530352" cy="53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7472" y="28529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47472" y="3255264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one powerful question about your identity and what you want to change at a belief level.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27432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993392" y="1389888"/>
            <a:ext cx="1572768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2514600" y="1481328"/>
            <a:ext cx="530352" cy="53035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514600" y="1481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4600" y="2176272"/>
            <a:ext cx="530352" cy="5303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084832" y="28529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084832" y="3255264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maps your limiting beliefs, current identity, desired self, and core motivation in seconds.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1024" y="2743200"/>
            <a:ext cx="182880" cy="18288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3730752" y="1389888"/>
            <a:ext cx="1572768" cy="33832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251960" y="1481328"/>
            <a:ext cx="530352" cy="53035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251960" y="1481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1960" y="2176272"/>
            <a:ext cx="530352" cy="53035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22192" y="28529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Generated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822192" y="3255264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subliminal transformation script is written — using the 'wish fulfilled' methodology.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8384" y="2743200"/>
            <a:ext cx="182880" cy="182880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468112" y="1389888"/>
            <a:ext cx="1572768" cy="338328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5989320" y="1481328"/>
            <a:ext cx="530352" cy="53035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5989320" y="1481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2176272"/>
            <a:ext cx="530352" cy="53035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5559552" y="28529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Produced</a:t>
            </a:r>
            <a:endParaRPr lang="en-US" sz="1200" dirty="0"/>
          </a:p>
        </p:txBody>
      </p:sp>
      <p:sp>
        <p:nvSpPr>
          <p:cNvPr id="31" name="Text 22"/>
          <p:cNvSpPr/>
          <p:nvPr/>
        </p:nvSpPr>
        <p:spPr>
          <a:xfrm>
            <a:off x="5559552" y="3255264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voice synthesis + binaural beats + ambient soundscape — mixed and ready in minutes.</a:t>
            </a:r>
            <a:endParaRPr lang="en-US" sz="1050" dirty="0"/>
          </a:p>
        </p:txBody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95744" y="2743200"/>
            <a:ext cx="182880" cy="182880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7205472" y="1389888"/>
            <a:ext cx="1572768" cy="33832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7726680" y="1481328"/>
            <a:ext cx="530352" cy="53035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7726680" y="148132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6680" y="2176272"/>
            <a:ext cx="530352" cy="530352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7296912" y="2852928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Change</a:t>
            </a:r>
            <a:endParaRPr lang="en-US" sz="1200" dirty="0"/>
          </a:p>
        </p:txBody>
      </p:sp>
      <p:sp>
        <p:nvSpPr>
          <p:cNvPr id="38" name="Text 27"/>
          <p:cNvSpPr/>
          <p:nvPr/>
        </p:nvSpPr>
        <p:spPr>
          <a:xfrm>
            <a:off x="7296912" y="3255264"/>
            <a:ext cx="1389888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daily, journal, and watch your belief gap close over time with visible identity tracking.</a:t>
            </a:r>
            <a:endParaRPr lang="en-US" sz="1050" dirty="0"/>
          </a:p>
        </p:txBody>
      </p:sp>
      <p:sp>
        <p:nvSpPr>
          <p:cNvPr id="39" name="Shape 28"/>
          <p:cNvSpPr/>
          <p:nvPr/>
        </p:nvSpPr>
        <p:spPr>
          <a:xfrm>
            <a:off x="256032" y="4828032"/>
            <a:ext cx="8631936" cy="219456"/>
          </a:xfrm>
          <a:prstGeom prst="rect">
            <a:avLst/>
          </a:prstGeom>
          <a:solidFill>
            <a:srgbClr val="C49A3A">
              <a:alpha val="12000"/>
            </a:srgbClr>
          </a:solidFill>
          <a:ln w="12700">
            <a:solidFill>
              <a:srgbClr val="C49A3A">
                <a:alpha val="40000"/>
              </a:srgbClr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347472" y="4837176"/>
            <a:ext cx="8449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theta brainwave state (4–8 Hz) is where the subconscious is most receptive. Every session is engineered to reach it.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2880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INSIDE THE APP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48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one place.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56032" y="12618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2618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39903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Audio Studio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20624" y="18562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binaural beats, ambient soundscape, and music — fully mixed. Adjust pacing, speech speed, and volume layers.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182112" y="12618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82112" y="12618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399032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22192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Map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346704" y="18562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display of current vs desired self. Belief gaps shown clearly so you know exactly what's shifting.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08192" y="12618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08192" y="12618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13990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13716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Breathwork Sessions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272784" y="18562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techniques including Box, 4-7-8, and Wim Hof — integrated with binaural beat backgrounds.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56032" y="30906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30906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3227832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6112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Reflection Journal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20624" y="36850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Post-session journaling with AI insight extraction. Beliefs surface and evolve automatically over time.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3182112" y="30906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182112" y="30906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227832"/>
            <a:ext cx="384048" cy="3840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22192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 Community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346704" y="36850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scripts, stats, and breakthroughs. Public feed and private circles for groups and practitioners.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6108192" y="3090672"/>
            <a:ext cx="2743200" cy="169164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08192" y="3090672"/>
            <a:ext cx="54864" cy="1691640"/>
          </a:xfrm>
          <a:prstGeom prst="rect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227832"/>
            <a:ext cx="384048" cy="38404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48272" y="32004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 &amp; Achievements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272784" y="368503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badges across rarity tiers. Daily quests, coin rewards, and visible progress that keeps people coming back.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457200"/>
            <a:ext cx="5486400" cy="5486400"/>
          </a:xfrm>
          <a:prstGeom prst="ellipse">
            <a:avLst/>
          </a:prstGeom>
          <a:solidFill>
            <a:srgbClr val="3D2B66">
              <a:alpha val="40000"/>
            </a:srgbClr>
          </a:solidFill>
          <a:ln w="12700">
            <a:solidFill>
              <a:srgbClr val="3D2B6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320040"/>
            <a:ext cx="201168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20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ACCESS THETASYNC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21792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experienced on your phone.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Also available on the web.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7190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 is designed as a daily practice. The iOS app delivers the full immersive experience — binaural audio, background playback, streak tracking, and offline access. The web version gives you instant access without a download.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2834640"/>
            <a:ext cx="3749040" cy="1371600"/>
          </a:xfrm>
          <a:prstGeom prst="rect">
            <a:avLst/>
          </a:prstGeom>
          <a:solidFill>
            <a:srgbClr val="3D2B66"/>
          </a:solidFill>
          <a:ln w="19050">
            <a:solidFill>
              <a:srgbClr val="6B4F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4436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89888" y="287121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 the App Store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89888" y="32004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Best experience · Full features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389888" y="347472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thetasync.app  →  App Store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94360" y="4315968"/>
            <a:ext cx="374904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44398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61872" y="44622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version also available at thetasync.app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29200" y="12618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app gives the best experience:</a:t>
            </a:r>
            <a:endParaRPr lang="en-US" sz="14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7373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76672" y="171907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Binaural audio in background while you sleep or relax</a:t>
            </a:r>
            <a:endParaRPr lang="en-US" sz="12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49424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76672" y="22311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 and habit tracking for accountability</a:t>
            </a:r>
            <a:endParaRPr lang="en-US" sz="12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76148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376672" y="27432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playback — no internet needed mid-session</a:t>
            </a:r>
            <a:endParaRPr lang="en-US" sz="12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273552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76672" y="325526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daily practice reminders</a:t>
            </a:r>
            <a:endParaRPr lang="en-US" sz="12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378561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376672" y="37673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library access — all scripts, breathwork, journal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5029200" y="4315968"/>
            <a:ext cx="3657600" cy="658368"/>
          </a:xfrm>
          <a:prstGeom prst="rect">
            <a:avLst/>
          </a:prstGeom>
          <a:solidFill>
            <a:srgbClr val="C49A3A">
              <a:alpha val="12000"/>
            </a:srgbClr>
          </a:solidFill>
          <a:ln w="12700">
            <a:solidFill>
              <a:srgbClr val="C49A3A">
                <a:alpha val="40000"/>
              </a:srgbClr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5120640" y="4352544"/>
            <a:ext cx="3474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Android version coming soon. Partners receive direct deep-link setup for their audience.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83280" y="274320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383280" y="2743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WHO IT'S FOR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97280" y="548640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audiences. One platform.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56032" y="1371600"/>
            <a:ext cx="2011680" cy="36118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508760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47472" y="2212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Seekers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2724912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Self-improvement adults 25–40 who have plateaued with Calm or Headspace and are ready for identity-level change. Direct-to-consumer via iOS app and social following.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432304" y="1371600"/>
            <a:ext cx="2011680" cy="361188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508760"/>
            <a:ext cx="566928" cy="566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23744" y="2212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Organizations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42032" y="2724912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and People teams who want a cognitive performance benefit they can actually measure. Positioned as an L&amp;D tool, not just wellness. Full engagement reporting included.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608576" y="1371600"/>
            <a:ext cx="2011680" cy="36118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952" y="1508760"/>
            <a:ext cx="566928" cy="56692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00016" y="2212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Organizers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18304" y="2724912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Conferences, retreats, and wellness events that want to extend the attendee experience beyond the room. Personalized audio that keeps working weeks after the event ends.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6784848" y="1371600"/>
            <a:ext cx="2011680" cy="361188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508760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76288" y="221284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Therapists &amp; Practitioners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894576" y="2724912"/>
            <a:ext cx="1792224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therapists, coaches, and practitioners who want to deepen the impact of their sessions with personalized daily reinforcement for their clients between appointments.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194560" cy="256032"/>
          </a:xfrm>
          <a:prstGeom prst="roundRect">
            <a:avLst>
              <a:gd name="adj" fmla="val 25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CORPORATE WELLNESS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Cognitive performance — not just meditation.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170432"/>
            <a:ext cx="2706624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18872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47472" y="1682496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experience burnout (Deloitte)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63824" y="1170432"/>
            <a:ext cx="2706624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63824" y="118872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$1,967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55264" y="1682496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productivity loss per burned-out employee (Gallup)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71616" y="1170432"/>
            <a:ext cx="2706624" cy="969264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71616" y="118872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63056" y="1682496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ROI from most existing wellness tools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" y="2304288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partnership works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" y="2761488"/>
            <a:ext cx="256032" cy="25603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27614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 up a partnership agreement and define your team's access scope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56032" y="3182112"/>
            <a:ext cx="256032" cy="25603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318211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16382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organization receives a set of unique access codes to distribute to employees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56032" y="3602736"/>
            <a:ext cx="256032" cy="25603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6027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358444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download the ThetaSync app (or use the web version) and self-onboard in under 8 minutes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56032" y="4023360"/>
            <a:ext cx="256032" cy="25603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" y="40233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" y="40050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optionally co-create custom script themes aligned with your company's values or current goals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56032" y="4443984"/>
            <a:ext cx="256032" cy="256032"/>
          </a:xfrm>
          <a:prstGeom prst="ellipse">
            <a:avLst/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" y="44439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" y="44256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an engagement report showing session counts, streaks, and participation rates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0" y="1170432"/>
            <a:ext cx="3383280" cy="379476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623560" y="12618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719072"/>
            <a:ext cx="201168" cy="201168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907024" y="17099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access codes for your team</a:t>
            </a:r>
            <a:endParaRPr lang="en-US" sz="12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139696"/>
            <a:ext cx="201168" cy="201168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907024" y="2130552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onboarding welcome message</a:t>
            </a:r>
            <a:endParaRPr lang="en-US" sz="12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2560320"/>
            <a:ext cx="201168" cy="20116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907024" y="25511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co-created script themes</a:t>
            </a:r>
            <a:endParaRPr lang="en-US" sz="120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980944"/>
            <a:ext cx="201168" cy="201168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907024" y="2971800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engagement report</a:t>
            </a:r>
            <a:endParaRPr lang="en-US" sz="12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3401568"/>
            <a:ext cx="201168" cy="20116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907024" y="339242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partnership support</a:t>
            </a:r>
            <a:endParaRPr lang="en-US" sz="120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3822192"/>
            <a:ext cx="201168" cy="2011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907024" y="38130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access to new app features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5486400" y="4224528"/>
            <a:ext cx="3383280" cy="749808"/>
          </a:xfrm>
          <a:prstGeom prst="rect">
            <a:avLst/>
          </a:prstGeom>
          <a:solidFill>
            <a:srgbClr val="3D2B66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46" name="Text 38"/>
          <p:cNvSpPr/>
          <p:nvPr/>
        </p:nvSpPr>
        <p:spPr>
          <a:xfrm>
            <a:off x="5596128" y="42611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596128" y="4480560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 – $5,000 / month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team size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377440" cy="256032"/>
          </a:xfrm>
          <a:prstGeom prst="roundRect">
            <a:avLst>
              <a:gd name="adj" fmla="val 25000"/>
            </a:avLst>
          </a:prstGeom>
          <a:solidFill>
            <a:srgbClr val="0F3D2E"/>
          </a:solidFill>
          <a:ln w="12700">
            <a:solidFill>
              <a:srgbClr val="0F3D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EB89A"/>
                </a:solidFill>
              </a:rPr>
              <a:t>EVENTS &amp; EXPERIENCES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experience that goes home with them.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8631936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event investments peak in the room and evaporate by Monday morning. ThetaSync extends the transformation for weeks — giving every attendee a personalized AI audio practice tied to what they experienced at your event.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199339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partnership works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56032" y="2450592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45059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03504" y="24414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align on the event theme, speaker message, or transformation goal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834640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834640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3504" y="282549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or the ThetaSync team creates a set of custom script themes for attendees to personalize from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218688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218688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3504" y="320954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 get a QR code on lanyards, slides, or signage — they scan and self-onboard instantly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602736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602736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03504" y="359359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attendee answers the one identity question and receives a personalized audio session within minutes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3986784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3986784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3504" y="39776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keep 30–90 days of premium access post-event — staying engaged long after the event ends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56032" y="4370832"/>
            <a:ext cx="237744" cy="237744"/>
          </a:xfrm>
          <a:prstGeom prst="ellipse">
            <a:avLst/>
          </a:prstGeom>
          <a:solidFill>
            <a:srgbClr val="1D8A6E"/>
          </a:solidFill>
          <a:ln w="12700">
            <a:solidFill>
              <a:srgbClr val="1D8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" y="4370832"/>
            <a:ext cx="2377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" y="43616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receive a post-event engagement report to share with sponsors or leadership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993392"/>
            <a:ext cx="3291840" cy="2971800"/>
          </a:xfrm>
          <a:prstGeom prst="rect">
            <a:avLst/>
          </a:prstGeom>
          <a:solidFill>
            <a:srgbClr val="0F3D2E">
              <a:alpha val="60000"/>
            </a:srgbClr>
          </a:solidFill>
          <a:ln w="12700">
            <a:solidFill>
              <a:srgbClr val="1D8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208483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for:</a:t>
            </a:r>
            <a:endParaRPr lang="en-US" sz="13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523744"/>
            <a:ext cx="182880" cy="18288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5980176" y="25146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retreats</a:t>
            </a:r>
            <a:endParaRPr lang="en-US" sz="115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71216"/>
            <a:ext cx="182880" cy="1828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980176" y="2862072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conferences</a:t>
            </a:r>
            <a:endParaRPr lang="en-US" sz="11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18688"/>
            <a:ext cx="182880" cy="18288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5980176" y="320954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offsites</a:t>
            </a:r>
            <a:endParaRPr lang="en-US" sz="11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566160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980176" y="3557016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events &amp; summits</a:t>
            </a:r>
            <a:endParaRPr lang="en-US" sz="1150" dirty="0"/>
          </a:p>
        </p:txBody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913632"/>
            <a:ext cx="182880" cy="18288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5980176" y="390448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 and breathwork retreats</a:t>
            </a:r>
            <a:endParaRPr lang="en-US" sz="115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261104"/>
            <a:ext cx="182880" cy="1828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5980176" y="425196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awareness events</a:t>
            </a:r>
            <a:endParaRPr lang="en-US" sz="1150" dirty="0"/>
          </a:p>
        </p:txBody>
      </p:sp>
      <p:sp>
        <p:nvSpPr>
          <p:cNvPr id="40" name="Shape 32"/>
          <p:cNvSpPr/>
          <p:nvPr/>
        </p:nvSpPr>
        <p:spPr>
          <a:xfrm>
            <a:off x="5577840" y="4617720"/>
            <a:ext cx="3291840" cy="365760"/>
          </a:xfrm>
          <a:prstGeom prst="rect">
            <a:avLst/>
          </a:prstGeom>
          <a:solidFill>
            <a:srgbClr val="1D8A6E">
              <a:alpha val="20000"/>
            </a:srgbClr>
          </a:solidFill>
          <a:ln w="12700">
            <a:solidFill>
              <a:srgbClr val="1D8A6E">
                <a:alpha val="50000"/>
              </a:srgbClr>
            </a:solidFill>
            <a:prstDash val="solid"/>
          </a:ln>
        </p:spPr>
      </p:sp>
      <p:sp>
        <p:nvSpPr>
          <p:cNvPr id="41" name="Text 33"/>
          <p:cNvSpPr/>
          <p:nvPr/>
        </p:nvSpPr>
        <p:spPr>
          <a:xfrm>
            <a:off x="5669280" y="46360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Pricing: $1,000 – $10,000 per event based on attendee count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3D2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56032"/>
            <a:ext cx="2743200" cy="256032"/>
          </a:xfrm>
          <a:prstGeom prst="roundRect">
            <a:avLst>
              <a:gd name="adj" fmla="val 25000"/>
            </a:avLst>
          </a:prstGeom>
          <a:solidFill>
            <a:srgbClr val="3D2200"/>
          </a:solidFill>
          <a:ln w="12700">
            <a:solidFill>
              <a:srgbClr val="3D22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C97A"/>
                </a:solidFill>
              </a:rPr>
              <a:t>THERAPISTS &amp; PRACTITIONERS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4864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impact between sessions.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170432"/>
            <a:ext cx="863193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 done in a 50-minute session doesn't have to evaporate by the time your client reaches the car. 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 gives therapists and coaches a daily reinforcement tool</a:t>
            </a:r>
            <a:pPr indent="0" marL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personalized audio session that anchors the identity shifts your clients are working toward, every single night.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56032" y="204825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partnership works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2487168"/>
            <a:ext cx="246888" cy="246888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487168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12648" y="24688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signs up for a ThetaSync partner account at no cost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" y="2926080"/>
            <a:ext cx="246888" cy="246888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926080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2648" y="29077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creates custom script themes tailored to specific client work areas (e.g. confidence, anxiety, identity)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3364992"/>
            <a:ext cx="246888" cy="246888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364992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12648" y="334670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receive access codes and self-onboard — each answers the one identity question for personalized audio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" y="3803904"/>
            <a:ext cx="246888" cy="246888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032" y="3803904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" y="378561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listen daily between sessions — reinforcing the psychological work being done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56032" y="4242816"/>
            <a:ext cx="246888" cy="246888"/>
          </a:xfrm>
          <a:prstGeom prst="ellipse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4242816"/>
            <a:ext cx="24688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12648" y="422452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earns 30% revenue share on every client who converts to a premium subscription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048256"/>
            <a:ext cx="3291840" cy="2304288"/>
          </a:xfrm>
          <a:prstGeom prst="rect">
            <a:avLst/>
          </a:prstGeom>
          <a:solidFill>
            <a:srgbClr val="3D2200">
              <a:alpha val="55000"/>
            </a:srgbClr>
          </a:solidFill>
          <a:ln w="12700">
            <a:solidFill>
              <a:srgbClr val="C49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715000" y="21396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for: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2560320"/>
            <a:ext cx="182880" cy="18288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980176" y="255117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 therapists</a:t>
            </a:r>
            <a:endParaRPr lang="en-US" sz="1150" dirty="0"/>
          </a:p>
        </p:txBody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889504"/>
            <a:ext cx="182880" cy="18288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980176" y="2880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coaches &amp; executive coaches</a:t>
            </a:r>
            <a:endParaRPr lang="en-US" sz="115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218688"/>
            <a:ext cx="182880" cy="1828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980176" y="3209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Hypnotherapists</a:t>
            </a:r>
            <a:endParaRPr lang="en-US" sz="11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547872"/>
            <a:ext cx="182880" cy="1828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980176" y="35387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practitioners</a:t>
            </a:r>
            <a:endParaRPr lang="en-US" sz="115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77056"/>
            <a:ext cx="182880" cy="18288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980176" y="386791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Grief and trauma counselors</a:t>
            </a:r>
            <a:endParaRPr lang="en-US" sz="115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4206240"/>
            <a:ext cx="182880" cy="18288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980176" y="41970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therapists</a:t>
            </a:r>
            <a:endParaRPr lang="en-US" sz="1150" dirty="0"/>
          </a:p>
        </p:txBody>
      </p:sp>
      <p:sp>
        <p:nvSpPr>
          <p:cNvPr id="37" name="Shape 29"/>
          <p:cNvSpPr/>
          <p:nvPr/>
        </p:nvSpPr>
        <p:spPr>
          <a:xfrm>
            <a:off x="5577840" y="4480560"/>
            <a:ext cx="3291840" cy="493776"/>
          </a:xfrm>
          <a:prstGeom prst="rect">
            <a:avLst/>
          </a:prstGeom>
          <a:solidFill>
            <a:srgbClr val="C49A3A">
              <a:alpha val="15000"/>
            </a:srgbClr>
          </a:solidFill>
          <a:ln w="12700">
            <a:solidFill>
              <a:srgbClr val="C49A3A">
                <a:alpha val="45000"/>
              </a:srgbClr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5669280" y="4498848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join  ·  30% revenue share on referrals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white-labeling required — partnership model only</a:t>
            </a:r>
            <a:endParaRPr lang="en-US" sz="1100" dirty="0"/>
          </a:p>
        </p:txBody>
      </p:sp>
      <p:sp>
        <p:nvSpPr>
          <p:cNvPr id="39" name="Shape 31"/>
          <p:cNvSpPr/>
          <p:nvPr/>
        </p:nvSpPr>
        <p:spPr>
          <a:xfrm>
            <a:off x="256032" y="4773168"/>
            <a:ext cx="512064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347472" y="4791456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ThetaSync is not currently white-labeled. Partners co-create script themes used within the branded ThetaSync app.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274320"/>
            <a:ext cx="292608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108960" y="274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PARTNERSHIP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566928"/>
            <a:ext cx="7680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Co-created scripts. Your community. Our platform.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1298448"/>
            <a:ext cx="7680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 is not white-labeled — and that's intentional. We've built a partnership model that gives you the customization that matters without the complexity of a full white-label setup.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56032" y="1993392"/>
            <a:ext cx="2724912" cy="29260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3192" y="206654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bring</a:t>
            </a:r>
            <a:endParaRPr lang="en-US" sz="135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" y="2523744"/>
            <a:ext cx="182880" cy="1828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" y="249631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audience — employees, attendees, or clients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3072384"/>
            <a:ext cx="182880" cy="1828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" y="30449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context — the goals, themes, or clinical focus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3621024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" y="359359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relationship and trust with your community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" y="4169664"/>
            <a:ext cx="182880" cy="1828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8368" y="414223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promotional reach to activate members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163824" y="1993392"/>
            <a:ext cx="2724912" cy="292608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3300984" y="206654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co-create</a:t>
            </a:r>
            <a:endParaRPr lang="en-US" sz="13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0984" y="2523744"/>
            <a:ext cx="182880" cy="1828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566160" y="249631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script themes based on your context</a:t>
            </a:r>
            <a:endParaRPr lang="en-US" sz="11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0984" y="3072384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566160" y="30449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welcome message in your voice</a:t>
            </a:r>
            <a:endParaRPr lang="en-US" sz="11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00984" y="3621024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566160" y="359359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questions aligned to your program or curriculum</a:t>
            </a:r>
            <a:endParaRPr lang="en-US" sz="11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0984" y="4169664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566160" y="414223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audio tone and focus for your audience</a:t>
            </a:r>
            <a:endParaRPr lang="en-US" sz="1100" dirty="0"/>
          </a:p>
        </p:txBody>
      </p:sp>
      <p:sp>
        <p:nvSpPr>
          <p:cNvPr id="26" name="Shape 16"/>
          <p:cNvSpPr/>
          <p:nvPr/>
        </p:nvSpPr>
        <p:spPr>
          <a:xfrm>
            <a:off x="6071616" y="1993392"/>
            <a:ext cx="2724912" cy="292608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17"/>
          <p:cNvSpPr/>
          <p:nvPr/>
        </p:nvSpPr>
        <p:spPr>
          <a:xfrm>
            <a:off x="6208776" y="206654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ThetaSync provides</a:t>
            </a:r>
            <a:endParaRPr lang="en-US" sz="135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08776" y="2523744"/>
            <a:ext cx="182880" cy="18288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473952" y="249631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AI audio production pipeline</a:t>
            </a:r>
            <a:endParaRPr lang="en-US" sz="11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08776" y="3072384"/>
            <a:ext cx="182880" cy="182880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6473952" y="304495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Binaural beats, voice synthesis, soundscape mixing</a:t>
            </a:r>
            <a:endParaRPr lang="en-US" sz="1100" dirty="0"/>
          </a:p>
        </p:txBody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8776" y="3621024"/>
            <a:ext cx="182880" cy="182880"/>
          </a:xfrm>
          <a:prstGeom prst="rect">
            <a:avLst/>
          </a:prstGeom>
        </p:spPr>
      </p:pic>
      <p:sp>
        <p:nvSpPr>
          <p:cNvPr id="33" name="Text 20"/>
          <p:cNvSpPr/>
          <p:nvPr/>
        </p:nvSpPr>
        <p:spPr>
          <a:xfrm>
            <a:off x="6473952" y="359359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app experience, streaks, journaling, belief tracking</a:t>
            </a:r>
            <a:endParaRPr lang="en-US" sz="110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8776" y="4169664"/>
            <a:ext cx="182880" cy="182880"/>
          </a:xfrm>
          <a:prstGeom prst="rect">
            <a:avLst/>
          </a:prstGeom>
        </p:spPr>
      </p:pic>
      <p:sp>
        <p:nvSpPr>
          <p:cNvPr id="35" name="Text 21"/>
          <p:cNvSpPr/>
          <p:nvPr/>
        </p:nvSpPr>
        <p:spPr>
          <a:xfrm>
            <a:off x="6473952" y="4142232"/>
            <a:ext cx="22311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reporting and partnership support</a:t>
            </a:r>
            <a:endParaRPr lang="en-US" sz="1100" dirty="0"/>
          </a:p>
        </p:txBody>
      </p:sp>
      <p:sp>
        <p:nvSpPr>
          <p:cNvPr id="36" name="Shape 22"/>
          <p:cNvSpPr/>
          <p:nvPr/>
        </p:nvSpPr>
        <p:spPr>
          <a:xfrm>
            <a:off x="256032" y="4864608"/>
            <a:ext cx="8631936" cy="182880"/>
          </a:xfrm>
          <a:prstGeom prst="rect">
            <a:avLst/>
          </a:prstGeom>
          <a:solidFill>
            <a:srgbClr val="C49A3A">
              <a:alpha val="12000"/>
            </a:srgbClr>
          </a:solidFill>
          <a:ln w="12700">
            <a:solidFill>
              <a:srgbClr val="C49A3A">
                <a:alpha val="40000"/>
              </a:srgbClr>
            </a:solidFill>
            <a:prstDash val="solid"/>
          </a:ln>
        </p:spPr>
      </p:sp>
      <p:sp>
        <p:nvSpPr>
          <p:cNvPr id="37" name="Text 23"/>
          <p:cNvSpPr/>
          <p:nvPr/>
        </p:nvSpPr>
        <p:spPr>
          <a:xfrm>
            <a:off x="347472" y="4873752"/>
            <a:ext cx="84490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result: your community gets a deeply personalized transformation practice. You get engagement data, revenue share, and a meaningful value-add.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0" y="256032"/>
            <a:ext cx="329184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926080" y="25603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THE LIFE MASTRI ECOSYSTEM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914400" y="54864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ThetaSync is one piece of a bigger system.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93008" y="1508760"/>
            <a:ext cx="2157984" cy="2157984"/>
          </a:xfrm>
          <a:prstGeom prst="ellipse">
            <a:avLst/>
          </a:prstGeom>
          <a:solidFill>
            <a:srgbClr val="3D2B66"/>
          </a:solidFill>
          <a:ln w="25400">
            <a:solidFill>
              <a:srgbClr val="6B4F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93008" y="1508760"/>
            <a:ext cx="2157984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Mastri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93008" y="2651760"/>
            <a:ext cx="2157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for growth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12848" y="2578608"/>
            <a:ext cx="1280160" cy="0"/>
          </a:xfrm>
          <a:prstGeom prst="line">
            <a:avLst/>
          </a:prstGeom>
          <a:noFill/>
          <a:ln w="19050">
            <a:solidFill>
              <a:srgbClr val="9B78D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56032" y="1508760"/>
            <a:ext cx="1920240" cy="2340864"/>
          </a:xfrm>
          <a:prstGeom prst="rect">
            <a:avLst/>
          </a:prstGeom>
          <a:solidFill>
            <a:srgbClr val="3D2B66"/>
          </a:solidFill>
          <a:ln w="12700">
            <a:solidFill>
              <a:srgbClr val="6B4F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627632"/>
            <a:ext cx="548640" cy="5486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22860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0352" y="2633472"/>
            <a:ext cx="1371600" cy="256032"/>
          </a:xfrm>
          <a:prstGeom prst="roundRect">
            <a:avLst>
              <a:gd name="adj" fmla="val 25000"/>
            </a:avLst>
          </a:prstGeom>
          <a:solidFill>
            <a:srgbClr val="6B4FA0"/>
          </a:solidFill>
          <a:ln w="12700">
            <a:solidFill>
              <a:srgbClr val="6B4F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633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</a:rPr>
              <a:t>LIVE NOW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0040" y="2871216"/>
            <a:ext cx="17922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Subconscious identity transformation via AI audio, binaural beats, and belief tracking.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565392" y="2578608"/>
            <a:ext cx="1280160" cy="0"/>
          </a:xfrm>
          <a:prstGeom prst="line">
            <a:avLst/>
          </a:prstGeom>
          <a:noFill/>
          <a:ln w="19050">
            <a:solidFill>
              <a:srgbClr val="4EB89A"/>
            </a:solidFill>
            <a:prstDash val="dash"/>
          </a:ln>
        </p:spPr>
      </p:sp>
      <p:sp>
        <p:nvSpPr>
          <p:cNvPr id="16" name="Shape 13"/>
          <p:cNvSpPr/>
          <p:nvPr/>
        </p:nvSpPr>
        <p:spPr>
          <a:xfrm>
            <a:off x="6967728" y="1508760"/>
            <a:ext cx="1920240" cy="2340864"/>
          </a:xfrm>
          <a:prstGeom prst="rect">
            <a:avLst/>
          </a:prstGeom>
          <a:solidFill>
            <a:srgbClr val="0F2A22"/>
          </a:solidFill>
          <a:ln w="12700">
            <a:solidFill>
              <a:srgbClr val="1D8A6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627632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67728" y="2286000"/>
            <a:ext cx="1920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Mastri App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7150608" y="2633472"/>
            <a:ext cx="1554480" cy="256032"/>
          </a:xfrm>
          <a:prstGeom prst="roundRect">
            <a:avLst>
              <a:gd name="adj" fmla="val 25000"/>
            </a:avLst>
          </a:prstGeom>
          <a:solidFill>
            <a:srgbClr val="0F2A22"/>
          </a:solidFill>
          <a:ln w="12700">
            <a:solidFill>
              <a:srgbClr val="0F2A2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150608" y="26334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4EB89A"/>
                </a:solidFill>
              </a:rPr>
              <a:t>COMPANION APP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022592" y="2871216"/>
            <a:ext cx="1792224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roadmap for your goals, dreams, and habits. Find clarity on what you want and build the system to get there.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72000" y="3675888"/>
            <a:ext cx="0" cy="201168"/>
          </a:xfrm>
          <a:prstGeom prst="line">
            <a:avLst/>
          </a:prstGeom>
          <a:noFill/>
          <a:ln w="19050">
            <a:solidFill>
              <a:srgbClr val="E8C97A"/>
            </a:solidFill>
            <a:prstDash val="dash"/>
          </a:ln>
        </p:spPr>
      </p:sp>
      <p:sp>
        <p:nvSpPr>
          <p:cNvPr id="23" name="Shape 19"/>
          <p:cNvSpPr/>
          <p:nvPr/>
        </p:nvSpPr>
        <p:spPr>
          <a:xfrm>
            <a:off x="3017520" y="3895344"/>
            <a:ext cx="3108960" cy="804672"/>
          </a:xfrm>
          <a:prstGeom prst="rect">
            <a:avLst/>
          </a:prstGeom>
          <a:solidFill>
            <a:srgbClr val="2A1A00"/>
          </a:solidFill>
          <a:ln w="12700">
            <a:solidFill>
              <a:srgbClr val="C49A3A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5536" y="3968496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584448" y="39502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Veil of Fire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3584448" y="416966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for deep psychological work — pairs with ThetaSync's identity methodology.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256032" y="4791456"/>
            <a:ext cx="8631936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47472" y="4809744"/>
            <a:ext cx="8449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product stands alone — and works better together. Partners gain access to the full ecosystem as it grows.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19456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MARKET OPPORTUNITY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right product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right moment.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56032" y="1572768"/>
          <a:ext cx="5029200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1572768"/>
            <a:ext cx="3383280" cy="749808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577840" y="15910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577840" y="19385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— digital mental wellness sector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2414016"/>
            <a:ext cx="338328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577840" y="243230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$4.5B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577840" y="27797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tech investment in 2023 alone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0" y="3255264"/>
            <a:ext cx="3383280" cy="749808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577840" y="327355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57784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churn rate — top meditation apps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486400" y="4096512"/>
            <a:ext cx="3383280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577840" y="41148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340%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5577840" y="4462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binaural beats searches since 2020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486400" y="4937760"/>
            <a:ext cx="3383280" cy="128016"/>
          </a:xfrm>
          <a:prstGeom prst="rect">
            <a:avLst/>
          </a:prstGeom>
          <a:solidFill>
            <a:srgbClr val="C49A3A"/>
          </a:solidFill>
          <a:ln w="12700">
            <a:solidFill>
              <a:srgbClr val="C49A3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49469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9A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combines: </a:t>
            </a:r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identity personalization + subliminal audio + binaural beats + belief tracking.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914400"/>
            <a:ext cx="6400800" cy="6400800"/>
          </a:xfrm>
          <a:prstGeom prst="ellipse">
            <a:avLst/>
          </a:prstGeom>
          <a:solidFill>
            <a:srgbClr val="3D2B66">
              <a:alpha val="38000"/>
            </a:srgbClr>
          </a:solidFill>
          <a:ln w="12700">
            <a:solidFill>
              <a:srgbClr val="3D2B66">
                <a:alpha val="3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3D2B66">
              <a:alpha val="28000"/>
            </a:srgbClr>
          </a:solidFill>
          <a:ln w="12700">
            <a:solidFill>
              <a:srgbClr val="3D2B66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292608"/>
            <a:ext cx="4206240" cy="256032"/>
          </a:xfrm>
          <a:prstGeom prst="roundRect">
            <a:avLst>
              <a:gd name="adj" fmla="val 25000"/>
            </a:avLst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29260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9B78D0"/>
                </a:solidFill>
              </a:rPr>
              <a:t>LET'S BUILD SOMETHING TOGETHER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22960" y="64008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know what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want to change.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1901952"/>
            <a:ext cx="74980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handle the rest.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2578608" cy="228600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2779776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40156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App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94360" y="3785616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ThetaSync on iOS and experience it yourself — 8 minutes to your first personalized session.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4360" y="46268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7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· thetasync.app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91840" y="2651760"/>
            <a:ext cx="2578608" cy="2286000"/>
          </a:xfrm>
          <a:prstGeom prst="rect">
            <a:avLst/>
          </a:prstGeom>
          <a:solidFill>
            <a:srgbClr val="1B2A4A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779776"/>
            <a:ext cx="512064" cy="5120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83280" y="340156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Partnership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3383280" y="3785616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wellness, events, or practitioner — let's set up a pilot together. No complex contracts to start.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83280" y="46268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mastrilife@gmail.com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080760" y="2651760"/>
            <a:ext cx="2578608" cy="2286000"/>
          </a:xfrm>
          <a:prstGeom prst="rect">
            <a:avLst/>
          </a:prstGeom>
          <a:solidFill>
            <a:srgbClr val="3D2B66"/>
          </a:solidFill>
          <a:ln w="12700">
            <a:solidFill>
              <a:srgbClr val="3D2B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2779776"/>
            <a:ext cx="512064" cy="51206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72200" y="3401568"/>
            <a:ext cx="23957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Ecosystem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6172200" y="3785616"/>
            <a:ext cx="23957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0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ThetaSync connects with Mastri and Veil of Fire for a complete transformation system.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72200" y="4626864"/>
            <a:ext cx="23957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EB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thetasync.app / mastri.app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0" y="502920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 Altaye  ·  Founder, Life Mastri LLC  ·  mastrilife@gmail.com  ·  thetasync.app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ThetaSync — Product Knowledge &amp; Partnership Deck</dc:title>
  <dc:subject>PptxGenJS Presentation</dc:subject>
  <dc:creator>Abel Altaye</dc:creator>
  <cp:lastModifiedBy>Abel Altaye</cp:lastModifiedBy>
  <cp:revision>1</cp:revision>
  <dcterms:created xsi:type="dcterms:W3CDTF">2026-04-10T19:22:17Z</dcterms:created>
  <dcterms:modified xsi:type="dcterms:W3CDTF">2026-04-10T19:22:17Z</dcterms:modified>
</cp:coreProperties>
</file>